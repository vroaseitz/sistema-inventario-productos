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8GHGuk5B2SwrLk7d+pVp5Lx5p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VICTORIA · 15 s. Presentamos el avance de la Fase 2 del sistema de punto de venta e inventario para Emporio NaturalSur. Exponemos los tres: yo el estado y los ajustes, Fernando el monitoreo y los aspectos técnicos, y Eduardo la demostración. TIEMPO TOTAL: 8 minutos.</a:t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VICTORIA · 1 min. Estamos en la semana 9 de 18. Cerramos los cuatro primeros objetivos: el diagnóstico sobre la base real del local, el Product Backlog de 49 historias con su origen, el modelo de datos y los cuatro diagramas UML. Cada requisito está anclado a una entrevista o a un hallazgo medido en la base. La construcción ya empezó con el módulo de productos, que Eduardo mostrará en la demo.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VICTORIA · 1 min 15 s. Hicimos cinco ajustes y no eliminamos ninguna actividad. El principal: ambos desarrolladores trabajan en todos los sprints, porque la planificación original concentraba hasta 76 horas semanales en una persona. El segundo: con la Product Owner acordamos operar con un perfil único; la condición es que el personal sea familiar. Nos facilitó tener la base real y una Product Owner que responde por escrito. Nos dificultó leer el Firebird de 32 bits y el tiempo que tomó el análisis. Le paso a Fernando.</a:t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 · 1 min. Cuatro actividades están completadas. Tres van con retraso: productos, ventas y caja, y la depuración del catálogo, que depende de la lista de productos vigentes. La causa fue nuestra planificación: el análisis tomó más de lo previsto. Para recuperar, priorizamos la venta y el cierre de caja, que son el núcleo para reemplazar el sistema actual, y mantenemos el hito de la semana 12: si el desarrollo no alcanza, la implantación se pospone y se presenta en entorno de demostración.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 · 1 min. Elegimos Python y Tkinter porque el equipo del local usa Windows 8.1, donde Electron y .NET moderno no corren; la imagen muestra el ejecutable empaquetado corriendo en Windows 8. El modelo de datos de 20 tablas ya está desplegado en Supabase. La aplicación escribe siempre en SQLite local y una cola idempotente replica a Supabase cuando hay conexión: si se corta internet, se sigue vendiendo. En lo metodológico, cada historia declara su origen y ninguna se da por terminada sin cumplir la Definition of Done. Hoy hay 62 pruebas automatizadas en verde.</a:t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 · 45 s. Esto es lo que respalda lo anterior. Arriba, el modelo de 20 tablas; el script está en el repositorio y ya se ejecutó en Supabase, que es la captura de abajo a la izquierda. A la derecha, las pruebas de la cola de sincronización: replica las tres operaciones y, si se corta la conexión a mitad, no pierde ni duplica. Todas las capturas están en el repositorio, en Fase 2, Evidencias de Proyecto. Le paso a Eduardo para la demo en vivo.</a:t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EDUARDO · 2 min 15 s. Abrir la aplicación con: python -m pos (rama feature/modulo-productos). Antes de la presentación, dejar cargados unos ocho productos inventados con categoría, mezclando unidad y granel. Secuencia: 1) mostrar el catálogo; 2) buscar «almendra»; 3) llenar código, nombre, categoría 3, costo 3200 y precio 4990: el margen marca 35,9 % y el markup 55,9 %, y no se pueden escribir a mano; 4) pulsar Agregar y mostrar la confirmación; luego intentar agregar otro producto con el mismo código y mostrar que el sistema lo rechaza; 5) cambiar a la terminal y correr python -m pytest. Durante la demo: no cerrar y reabrir la aplicación para mostrar el costo, no intentar editar el precio y siempre ingresar una categoría. Si algo falla, saltar a las diapositivas de anexo (9 y 10), que tienen las capturas de cada paso.</a:t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EDUARDO · 30 s. En el Sprint 4 construimos la venta y el cierre de caja. En paralelo cerramos el módulo de productos y formalizamos el plan de pruebas por sprint. Gracias, quedamos atentos a sus preguntas.</a:t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Respaldo: usar si la demo en vivo falla. Capturas tomadas por Eduardo en Windows sobre la rama feature/modulo-productos.</a:t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Respaldo: usar si la demo en vivo falla.</a:t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rgbClr val="1F3D2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731520" y="210312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731520" y="3840480"/>
            <a:ext cx="8686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Capstone PTY4614 · Sección 005D · Emporio NaturalSur · Avance 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rgbClr val="1F3D2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  <a:defRPr b="1" i="0" sz="3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CAPSTONE · PTY4614 · SECCIÓN 005D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>
            <p:ph type="title"/>
          </p:nvPr>
        </p:nvSpPr>
        <p:spPr>
          <a:xfrm>
            <a:off x="731520" y="210312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Sistema de Punto de Venta e Inventario</a:t>
            </a:r>
            <a:endParaRPr sz="4400"/>
          </a:p>
        </p:txBody>
      </p:sp>
      <p:sp>
        <p:nvSpPr>
          <p:cNvPr id="29" name="Google Shape;29;p1"/>
          <p:cNvSpPr txBox="1"/>
          <p:nvPr>
            <p:ph idx="1" type="body"/>
          </p:nvPr>
        </p:nvSpPr>
        <p:spPr>
          <a:xfrm>
            <a:off x="731520" y="3840480"/>
            <a:ext cx="8686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n-US" sz="1600">
                <a:solidFill>
                  <a:schemeClr val="accent5"/>
                </a:solidFill>
              </a:rPr>
              <a:t>Avance del proyecto · Fase 2 · Semana 9 de 18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Emporio NaturalSur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 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Victoria Roa Seitz · Eduardo Guzmán · Fernando Silva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Docente guía: Karla Marilyn Roco · Duoc UC, sede San Joaquín · Octubre de 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Estado actual del proyecto</a:t>
            </a:r>
            <a:endParaRPr sz="3000"/>
          </a:p>
        </p:txBody>
      </p:sp>
      <p:sp>
        <p:nvSpPr>
          <p:cNvPr id="36" name="Google Shape;36;p2"/>
          <p:cNvSpPr/>
          <p:nvPr/>
        </p:nvSpPr>
        <p:spPr>
          <a:xfrm>
            <a:off x="54864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 de 14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cumplidos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77724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Diagnóstico, requisitos, arquitectura y UML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361188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361188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361188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9 módulos, 458 horas, cada una con su origen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44652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62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644652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en verde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44652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Automatizadas, en la rama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05256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928116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7 de 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928116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definiciones resueltas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928116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 la Product Owner, por escrito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Artefactos de diseño terminados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443484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777240" y="443484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Vision v2.2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270248" y="443484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4498848" y="443484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Backlog v4.4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991856" y="443484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8220456" y="443484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· 20 tablas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521208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77240" y="52120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diagramas UML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270248" y="521208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4498848" y="52120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decisiones de arquitectura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991856" y="521208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8220456" y="52120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· 24 pantallas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Ajustes a la propuesta</a:t>
            </a:r>
            <a:endParaRPr sz="3000"/>
          </a:p>
        </p:txBody>
      </p:sp>
      <p:sp>
        <p:nvSpPr>
          <p:cNvPr id="72" name="Google Shape;72;p3"/>
          <p:cNvSpPr/>
          <p:nvPr/>
        </p:nvSpPr>
        <p:spPr>
          <a:xfrm>
            <a:off x="548640" y="1325880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777240" y="132588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1325880" y="13258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en paralelo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3200400" y="132588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De picos de 76 h a 23–31 h semanales por persona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2276856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777240" y="2276856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325880" y="2276856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único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200400" y="2276856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Roles como incremento posterior; se mantienen autenticación y auditoría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3227832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777240" y="3227832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325880" y="3227832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 adelantado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3200400" y="3227832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Las cuentas de clientes pasan al sprint de caja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4178808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777240" y="4178808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1325880" y="417880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depurado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3200400" y="417880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Seis historias sin origen fuera; entra la anulación de venta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5129784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777240" y="5129784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1325880" y="5129784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corregido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3200400" y="51297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Vencimiento en el lote; categoría como tabla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858000" y="1325880"/>
            <a:ext cx="4754880" cy="2240280"/>
          </a:xfrm>
          <a:prstGeom prst="roundRect">
            <a:avLst>
              <a:gd fmla="val 32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7086600" y="1508760"/>
            <a:ext cx="4343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Facilitadores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Copia real de la base del sistema actual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 que responde por escrito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antes del código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858000" y="3703320"/>
            <a:ext cx="475488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7086600" y="3886200"/>
            <a:ext cx="4343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Dificultades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Firebird de 32 bits no se lee desde Python de 64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análisis tomó más semanas de lo previsto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productos vigentes aún sin entregar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Monitoreo del plan de trabajo</a:t>
            </a:r>
            <a:endParaRPr sz="3000"/>
          </a:p>
        </p:txBody>
      </p:sp>
      <p:sp>
        <p:nvSpPr>
          <p:cNvPr id="103" name="Google Shape;103;p4"/>
          <p:cNvSpPr/>
          <p:nvPr/>
        </p:nvSpPr>
        <p:spPr>
          <a:xfrm>
            <a:off x="548640" y="1325880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731520" y="1325880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 y levantamiento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657600" y="132588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480560" y="1472184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480560" y="14721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2075688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731520" y="2075688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proyecto (Fase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657600" y="207568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480560" y="2221992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4480560" y="222199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2825496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731520" y="2825496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y modelo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3657600" y="282549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S4–5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480560" y="2971800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4480560" y="29718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3575304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731520" y="3575304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UML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657600" y="3575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S4–5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480560" y="3721608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480560" y="372160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48640" y="4325112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731520" y="4325112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productos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3657600" y="43251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S6–7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480560" y="4471416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4480560" y="447141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retraso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72200" y="1325880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355080" y="1325880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y cierre de caja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281160" y="132588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S8–9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0104120" y="1472184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104120" y="14721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retraso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172200" y="2075688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6355080" y="2075688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Depuración del catálogo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281160" y="207568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S4–9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104120" y="2221992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104120" y="222199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retraso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172200" y="2825496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355080" y="2825496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por iteración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9281160" y="282549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S5–13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0104120" y="2971800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0104120" y="29718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172200" y="3575304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6355080" y="3575304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Inventario y clientes con crédito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9281160" y="3575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S10–11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104120" y="3721608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0104120" y="372160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iniciado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172200" y="4325112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6355080" y="4325112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Ensayos de migración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9281160" y="43251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S11–13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104120" y="4471416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0104120" y="447141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iniciado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fmla="val 842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Recuperación: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prioridad a la venta y el cierre de caja, capacidad real declarada por sprint e hito de decisión en la semana 12; si no alcanza, la implantación se pospone.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Aspectos técnicos y metodológicos</a:t>
            </a:r>
            <a:endParaRPr sz="3000"/>
          </a:p>
        </p:txBody>
      </p:sp>
      <p:pic>
        <p:nvPicPr>
          <p:cNvPr descr="img/windows8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6451" y="1280150"/>
            <a:ext cx="4475251" cy="310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548640" y="443484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Ejecutable empaquetado con PyInstaller corriendo en Windows 8 (máquina virtual)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48640" y="4846320"/>
            <a:ext cx="6949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777240" y="4983480"/>
            <a:ext cx="6583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3.11 y Tkinter: corren en el Windows 8.1 del local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como fuente de verdad: la venta no depende de internet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 idempotente hacia Supabase: un corte no pierde ni duplica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772400" y="1280160"/>
            <a:ext cx="3840480" cy="4754880"/>
          </a:xfrm>
          <a:prstGeom prst="roundRect">
            <a:avLst>
              <a:gd fmla="val 190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8001000" y="1508760"/>
            <a:ext cx="34290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con sprints de dos semanas y roles declarados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historia con su origen: entrevista o hallazgo medido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Done de seis condiciones: Pull Request revisado, pruebas en verde y validación de la Product Owner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 pruebas automatizadas, incluido el corte a mitad de sincronización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20 tablas desplegado en Supabase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Evidencias del avance</a:t>
            </a:r>
            <a:endParaRPr sz="3000"/>
          </a:p>
        </p:txBody>
      </p:sp>
      <p:sp>
        <p:nvSpPr>
          <p:cNvPr id="175" name="Google Shape;175;p6"/>
          <p:cNvSpPr/>
          <p:nvPr/>
        </p:nvSpPr>
        <p:spPr>
          <a:xfrm>
            <a:off x="548640" y="1234440"/>
            <a:ext cx="1106424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er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5150" y="1182900"/>
            <a:ext cx="8403477" cy="284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548640" y="40233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Modelo entidad-relación de 20 tablas · database/migraciones/002_modelo_completo.sql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supabase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439233"/>
            <a:ext cx="3749040" cy="186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 txBox="1"/>
          <p:nvPr/>
        </p:nvSpPr>
        <p:spPr>
          <a:xfrm>
            <a:off x="4434840" y="45262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Modelo desplegado en Supabase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434840" y="502920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Las 20 tablas creadas con el script del repositorio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583680" y="4434840"/>
            <a:ext cx="502920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ytest_sync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4540996"/>
            <a:ext cx="4754880" cy="7020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812280" y="5303520"/>
            <a:ext cx="4663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Sincronización probada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cola hacia Supabase replica 3 de 3 operaciones y tolera un corte a mitad de envío sin perder ni duplicar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type="title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lt1"/>
                </a:solidFill>
              </a:rPr>
              <a:t>Demostración en vivo · Módulo de productos</a:t>
            </a:r>
            <a:endParaRPr sz="3400"/>
          </a:p>
        </p:txBody>
      </p:sp>
      <p:sp>
        <p:nvSpPr>
          <p:cNvPr id="191" name="Google Shape;191;p7"/>
          <p:cNvSpPr/>
          <p:nvPr/>
        </p:nvSpPr>
        <p:spPr>
          <a:xfrm>
            <a:off x="731520" y="181051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731520" y="1810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1463040" y="17373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Catálogo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4114800" y="173736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Productos por unidad y a granel, con su categoría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10058400" y="17373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31520" y="267919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463040" y="2606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Búsqueda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4114800" y="260604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Por nombre o código, en el catálogo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0058400" y="260604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31520" y="354787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731520" y="3547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463040" y="3474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Margen y markup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4114800" y="347472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Calculados en vivo y en solo lectura al ingresar costo y precio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0058400" y="34747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31520" y="441655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731520" y="4416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1463040" y="43434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Alta y validación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4114800" y="434340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Registro con confirmación; un código repetido se rechaza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0058400" y="4343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731520" y="5285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463040" y="52120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Pruebas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4114800" y="521208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pytest ejecutando la batería completa en verde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0058400" y="52120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Próximos pasos</a:t>
            </a:r>
            <a:endParaRPr sz="3000"/>
          </a:p>
        </p:txBody>
      </p:sp>
      <p:sp>
        <p:nvSpPr>
          <p:cNvPr id="223" name="Google Shape;223;p8"/>
          <p:cNvSpPr/>
          <p:nvPr/>
        </p:nvSpPr>
        <p:spPr>
          <a:xfrm>
            <a:off x="548640" y="1463040"/>
            <a:ext cx="3493008" cy="3291840"/>
          </a:xfrm>
          <a:prstGeom prst="roundRect">
            <a:avLst>
              <a:gd fmla="val 222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822960" y="1737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Sprint 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822960" y="242316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con lector de códigos, medios de pago y cierre de caja con arqueo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270248" y="1463040"/>
            <a:ext cx="3493008" cy="3291840"/>
          </a:xfrm>
          <a:prstGeom prst="roundRect">
            <a:avLst>
              <a:gd fmla="val 222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4544568" y="1737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Productos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544568" y="242316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Fusionar el módulo y completar costo, categoría obligatoria e historial de precios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991856" y="1463040"/>
            <a:ext cx="3493008" cy="3291840"/>
          </a:xfrm>
          <a:prstGeom prst="roundRect">
            <a:avLst>
              <a:gd fmla="val 222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8266176" y="1737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Pruebas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266176" y="242316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por sprint, con pruebas de rendimiento y de seguridad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Repositorio público: github.com/vroaseitz/sistema-inventario-productos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Anexo · Capturas de la demo (1 de 2)</a:t>
            </a:r>
            <a:endParaRPr sz="3000"/>
          </a:p>
        </p:txBody>
      </p:sp>
      <p:pic>
        <p:nvPicPr>
          <p:cNvPr descr="img/edu_margen.png"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87026"/>
            <a:ext cx="5440680" cy="3729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edu_alta.png" id="241" name="Google Shape;2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605687"/>
            <a:ext cx="5440680" cy="3692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548640" y="57150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3 · Margen y markup calculados en solo lectura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6172200" y="57150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4 · Producto registrado con confirmación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Anexo · Capturas de la demo (2 de 2)</a:t>
            </a:r>
            <a:endParaRPr sz="3000"/>
          </a:p>
        </p:txBody>
      </p:sp>
      <p:pic>
        <p:nvPicPr>
          <p:cNvPr descr="img/edu_busqueda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83970"/>
            <a:ext cx="4846320" cy="33299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548640" y="46634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2 · Búsqueda en el catálogo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edu_duplicado.png"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0" y="1723073"/>
            <a:ext cx="6035040" cy="245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/>
        </p:nvSpPr>
        <p:spPr>
          <a:xfrm>
            <a:off x="5577840" y="46634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4 · Código repetido rechazado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fmla="val 6667" name="adj"/>
            </a:avLst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edu_pytest.png" id="256" name="Google Shape;2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5237226"/>
            <a:ext cx="6583680" cy="86410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7589520" y="512064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5 · 62 pruebas automatizadas en verde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aturalSur">
  <a:themeElements>
    <a:clrScheme name="NaturalSur">
      <a:dk1>
        <a:srgbClr val="1F2A24"/>
      </a:dk1>
      <a:lt1>
        <a:srgbClr val="FFFFFF"/>
      </a:lt1>
      <a:dk2>
        <a:srgbClr val="1F3D2B"/>
      </a:dk2>
      <a:lt2>
        <a:srgbClr val="EEF3EE"/>
      </a:lt2>
      <a:accent1>
        <a:srgbClr val="2E6B45"/>
      </a:accent1>
      <a:accent2>
        <a:srgbClr val="8DB596"/>
      </a:accent2>
      <a:accent3>
        <a:srgbClr val="B7791F"/>
      </a:accent3>
      <a:accent4>
        <a:srgbClr val="5B6B62"/>
      </a:accent4>
      <a:accent5>
        <a:srgbClr val="D9E6DC"/>
      </a:accent5>
      <a:accent6>
        <a:srgbClr val="A33B2B"/>
      </a:accent6>
      <a:hlink>
        <a:srgbClr val="2E6B45"/>
      </a:hlink>
      <a:folHlink>
        <a:srgbClr val="5B6B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turalSur">
  <a:themeElements>
    <a:clrScheme name="NaturalSur">
      <a:dk1>
        <a:srgbClr val="1F2A24"/>
      </a:dk1>
      <a:lt1>
        <a:srgbClr val="FFFFFF"/>
      </a:lt1>
      <a:dk2>
        <a:srgbClr val="1F3D2B"/>
      </a:dk2>
      <a:lt2>
        <a:srgbClr val="EEF3EE"/>
      </a:lt2>
      <a:accent1>
        <a:srgbClr val="2E6B45"/>
      </a:accent1>
      <a:accent2>
        <a:srgbClr val="8DB596"/>
      </a:accent2>
      <a:accent3>
        <a:srgbClr val="B7791F"/>
      </a:accent3>
      <a:accent4>
        <a:srgbClr val="5B6B62"/>
      </a:accent4>
      <a:accent5>
        <a:srgbClr val="D9E6DC"/>
      </a:accent5>
      <a:accent6>
        <a:srgbClr val="A33B2B"/>
      </a:accent6>
      <a:hlink>
        <a:srgbClr val="2E6B45"/>
      </a:hlink>
      <a:folHlink>
        <a:srgbClr val="5B6B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2026-10-08T21:01:42Z</dcterms:created>
  <dc:creator>Equipo Capstone NaturalSur</dc:creator>
</cp:coreProperties>
</file>